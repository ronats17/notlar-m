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</p:sldIdLst>
  <p:sldSz cx="9144000" cy="6858000" type="screen4x3"/>
  <p:notesSz cx="6858000" cy="9144000"/>
  <p:embeddedFontLst>
    <p:embeddedFont>
      <p:font typeface="EB Garamond" panose="020B0604020202020204" charset="0"/>
      <p:bold r:id="rId11"/>
      <p:boldItalic r:id="rId12"/>
    </p:embeddedFont>
    <p:embeddedFont>
      <p:font typeface="Corbel" panose="020B0503020204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ssqA2BxoiFJwvT+sSivpVClho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75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1969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179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718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667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0320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04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8525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1865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33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şlık Slaydı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11"/>
          <p:cNvSpPr txBox="1"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4700"/>
              <a:buFont typeface="Corbel"/>
              <a:buNone/>
              <a:defRPr sz="4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4570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2000"/>
              <a:buFont typeface="Corbel"/>
              <a:buNone/>
              <a:defRPr sz="2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3019377" y="1743133"/>
            <a:ext cx="5920641" cy="455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91160" algn="l">
              <a:spcBef>
                <a:spcPts val="0"/>
              </a:spcBef>
              <a:spcAft>
                <a:spcPts val="0"/>
              </a:spcAft>
              <a:buSzPts val="2560"/>
              <a:buChar char="◼"/>
              <a:defRPr sz="3200"/>
            </a:lvl1pPr>
            <a:lvl2pPr marL="914400" lvl="1" indent="-388619" algn="l">
              <a:spcBef>
                <a:spcPts val="560"/>
              </a:spcBef>
              <a:spcAft>
                <a:spcPts val="0"/>
              </a:spcAft>
              <a:buSzPts val="252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body" idx="2"/>
          </p:nvPr>
        </p:nvSpPr>
        <p:spPr>
          <a:xfrm>
            <a:off x="167838" y="1730018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28" name="Google Shape;28;p12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12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2004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marL="914400" lvl="1" indent="-331469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ölüm Üstbilgisi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/>
          <p:nvPr/>
        </p:nvSpPr>
        <p:spPr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" name="Google Shape;38;p14"/>
          <p:cNvSpPr/>
          <p:nvPr/>
        </p:nvSpPr>
        <p:spPr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4700"/>
              <a:buFont typeface="Corbel"/>
              <a:buNone/>
              <a:defRPr sz="47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0" rIns="4570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37084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marL="914400" lvl="1" indent="-36576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648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7084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marL="914400" lvl="1" indent="-36576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45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40"/>
              <a:buNone/>
              <a:defRPr sz="2300" b="1" cap="none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2"/>
          </p:nvPr>
        </p:nvSpPr>
        <p:spPr>
          <a:xfrm>
            <a:off x="457200" y="244951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5052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3"/>
          </p:nvPr>
        </p:nvSpPr>
        <p:spPr>
          <a:xfrm>
            <a:off x="4645025" y="1698987"/>
            <a:ext cx="4041775" cy="71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40"/>
              <a:buNone/>
              <a:defRPr sz="2300" b="1" cap="none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4"/>
          </p:nvPr>
        </p:nvSpPr>
        <p:spPr>
          <a:xfrm>
            <a:off x="4645025" y="244951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5052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oş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2000"/>
              <a:buFont typeface="Corbel"/>
              <a:buNone/>
              <a:defRPr sz="2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>
            <a:spLocks noGrp="1"/>
          </p:cNvSpPr>
          <p:nvPr>
            <p:ph type="pic" idx="2"/>
          </p:nvPr>
        </p:nvSpPr>
        <p:spPr>
          <a:xfrm>
            <a:off x="2903805" y="1484808"/>
            <a:ext cx="6247397" cy="5373192"/>
          </a:xfrm>
          <a:prstGeom prst="rect">
            <a:avLst/>
          </a:prstGeom>
          <a:solidFill>
            <a:srgbClr val="D0CFC5"/>
          </a:solidFill>
          <a:ln>
            <a:noFill/>
          </a:ln>
        </p:spPr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164592" y="1728216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dt" idx="10"/>
          </p:nvPr>
        </p:nvSpPr>
        <p:spPr>
          <a:xfrm>
            <a:off x="164592" y="1170432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035808" y="1170432"/>
            <a:ext cx="5193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ABA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339328" y="1170432"/>
            <a:ext cx="73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, Dikey Metin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2259196" y="-26804"/>
            <a:ext cx="4625609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2004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marL="914400" lvl="1" indent="-331469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key Başlık ve Metin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6" name="Google Shape;86;p21"/>
          <p:cNvSpPr/>
          <p:nvPr/>
        </p:nvSpPr>
        <p:spPr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 rot="5400000">
            <a:off x="4808538" y="2247903"/>
            <a:ext cx="5851525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2206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2004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marL="914400" lvl="1" indent="-331469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ftr" idx="11"/>
          </p:nvPr>
        </p:nvSpPr>
        <p:spPr>
          <a:xfrm>
            <a:off x="2640597" y="6377459"/>
            <a:ext cx="38364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" name="Google Shape;8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4500"/>
              <a:buFont typeface="Corbel"/>
              <a:buNone/>
              <a:defRPr sz="4500" b="1" i="0" u="none" strike="noStrike" cap="none">
                <a:solidFill>
                  <a:srgbClr val="337ED8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marR="0" lvl="0" indent="-39116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sz="3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886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714348" y="135729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ct val="100000"/>
              <a:buFont typeface="EB Garamond"/>
              <a:buNone/>
            </a:pPr>
            <a:r>
              <a:rPr lang="tr-TR" sz="6000" b="1">
                <a:latin typeface="EB Garamond"/>
                <a:ea typeface="EB Garamond"/>
                <a:cs typeface="EB Garamond"/>
                <a:sym typeface="EB Garamond"/>
              </a:rPr>
              <a:t>Linux nedir ve temel komutları</a:t>
            </a:r>
            <a:endParaRPr sz="6000"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642910" y="3500438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45700" bIns="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tr-TR" b="1">
                <a:latin typeface="EB Garamond"/>
                <a:ea typeface="EB Garamond"/>
                <a:cs typeface="EB Garamond"/>
                <a:sym typeface="EB Garamond"/>
              </a:rPr>
              <a:t>Kopyalama , Silme , Taşıma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tr-TR">
                <a:latin typeface="Arial"/>
                <a:ea typeface="Arial"/>
                <a:cs typeface="Arial"/>
                <a:sym typeface="Arial"/>
              </a:rPr>
              <a:t> Ronayi TAŞ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2928926" y="0"/>
            <a:ext cx="6215074" cy="142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3600"/>
              <a:buFont typeface="EB Garamond"/>
              <a:buNone/>
            </a:pPr>
            <a:r>
              <a:rPr lang="tr-TR" sz="2800" b="1" dirty="0">
                <a:latin typeface="EB Garamond"/>
                <a:ea typeface="EB Garamond"/>
                <a:cs typeface="EB Garamond"/>
                <a:sym typeface="EB Garamond"/>
              </a:rPr>
              <a:t>LİNUXS </a:t>
            </a:r>
            <a:r>
              <a:rPr lang="tr-TR" sz="2800" b="1" dirty="0" smtClean="0">
                <a:latin typeface="EB Garamond"/>
                <a:ea typeface="EB Garamond"/>
                <a:cs typeface="EB Garamond"/>
                <a:sym typeface="EB Garamond"/>
              </a:rPr>
              <a:t>NEDİR</a:t>
            </a:r>
            <a:br>
              <a:rPr lang="tr-TR" sz="2800" b="1" dirty="0" smtClean="0">
                <a:latin typeface="EB Garamond"/>
                <a:ea typeface="EB Garamond"/>
                <a:cs typeface="EB Garamond"/>
                <a:sym typeface="EB Garamond"/>
              </a:rPr>
            </a:br>
            <a:endParaRPr sz="2800" b="1" dirty="0"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2"/>
          </p:nvPr>
        </p:nvSpPr>
        <p:spPr>
          <a:xfrm>
            <a:off x="0" y="1500174"/>
            <a:ext cx="4786314" cy="535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tr-TR" sz="2000"/>
              <a:t>Linux, en çok bilinen ve en çok kullanılan </a:t>
            </a:r>
            <a:r>
              <a:rPr lang="tr-TR" sz="2000" b="1"/>
              <a:t>açık kaynak kodlu</a:t>
            </a:r>
            <a:r>
              <a:rPr lang="tr-TR" sz="2000"/>
              <a:t> işletim sistemidir bu en önemli özelliğidir.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tr-TR" sz="2000"/>
              <a:t>Bu da işletim sistemini kullanan kişinin bilgisayarın arka planında dönen neredeyse her şeyden haberi olabileceği, işletim sistemini kendince </a:t>
            </a:r>
            <a:r>
              <a:rPr lang="tr-TR" sz="2000" b="1"/>
              <a:t>düzenleyebileceği ve geliştirebileceği</a:t>
            </a:r>
            <a:r>
              <a:rPr lang="tr-TR" sz="2000"/>
              <a:t> anlamına geliyor.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/>
          </a:p>
        </p:txBody>
      </p:sp>
      <p:pic>
        <p:nvPicPr>
          <p:cNvPr id="104" name="Google Shape;104;p2" descr="DOSYA1.jpe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214910" y="2071678"/>
            <a:ext cx="3929090" cy="3643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2928926" y="0"/>
            <a:ext cx="6215074" cy="142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3600"/>
              <a:buFont typeface="EB Garamond"/>
              <a:buNone/>
            </a:pPr>
            <a:r>
              <a:rPr lang="tr-TR" sz="2800" b="1" dirty="0">
                <a:latin typeface="EB Garamond"/>
                <a:ea typeface="EB Garamond"/>
                <a:cs typeface="EB Garamond"/>
                <a:sym typeface="EB Garamond"/>
              </a:rPr>
              <a:t>DOSYA VE DİZİN NEDİR</a:t>
            </a:r>
            <a:r>
              <a:rPr lang="tr-TR" sz="2800" b="1" dirty="0" smtClean="0">
                <a:latin typeface="EB Garamond"/>
                <a:ea typeface="EB Garamond"/>
                <a:cs typeface="EB Garamond"/>
                <a:sym typeface="EB Garamond"/>
              </a:rPr>
              <a:t>?</a:t>
            </a:r>
            <a:br>
              <a:rPr lang="tr-TR" sz="2800" b="1" dirty="0" smtClean="0">
                <a:latin typeface="EB Garamond"/>
                <a:ea typeface="EB Garamond"/>
                <a:cs typeface="EB Garamond"/>
                <a:sym typeface="EB Garamond"/>
              </a:rPr>
            </a:br>
            <a:endParaRPr sz="2800" dirty="0"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2"/>
          </p:nvPr>
        </p:nvSpPr>
        <p:spPr>
          <a:xfrm>
            <a:off x="0" y="1500174"/>
            <a:ext cx="4786314" cy="535782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tr-TR" sz="1800" b="1"/>
              <a:t>D</a:t>
            </a:r>
            <a:r>
              <a:rPr lang="tr-TR" sz="2000" b="1"/>
              <a:t>osya: </a:t>
            </a:r>
            <a:r>
              <a:rPr lang="tr-TR" sz="2000"/>
              <a:t>Özdeş konu, iş ya da kimseyle ilgili belgeler bütünü.bu türlü belgelerin içine konulduğu kartondan yapılmış kap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tr-TR" sz="1800" b="1"/>
              <a:t>D</a:t>
            </a:r>
            <a:r>
              <a:rPr lang="tr-TR" sz="2000" b="1"/>
              <a:t>izin: </a:t>
            </a:r>
            <a:r>
              <a:rPr lang="tr-TR" sz="2000"/>
              <a:t>Bilgisayarlarda dizin ya da klasör, </a:t>
            </a:r>
            <a:r>
              <a:rPr lang="tr-TR" sz="2000" b="1"/>
              <a:t>dosya  sisteminde diğer bilgisayar dosyalarına referans kayıtları tutan bir kataloglama yapısıdır</a:t>
            </a:r>
            <a:r>
              <a:rPr lang="tr-TR" sz="2000"/>
              <a:t>. Benzer dosyalar aynı dizin altında saklanarak organize edilirler. Bir dizin içerisinde bulunan diğer bir dizine alt-dizin ya da alt-klasör adı verilir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/>
          </a:p>
        </p:txBody>
      </p:sp>
      <p:pic>
        <p:nvPicPr>
          <p:cNvPr id="111" name="Google Shape;111;p3" descr="DOSYA2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822825" y="1500174"/>
            <a:ext cx="4321175" cy="535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2857488" y="0"/>
            <a:ext cx="6286512" cy="142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2000"/>
              <a:buFont typeface="EB Garamond"/>
              <a:buNone/>
            </a:pPr>
            <a:r>
              <a:rPr lang="tr-TR" sz="2400" b="1" dirty="0">
                <a:latin typeface="EB Garamond"/>
                <a:ea typeface="EB Garamond"/>
                <a:cs typeface="EB Garamond"/>
                <a:sym typeface="EB Garamond"/>
              </a:rPr>
              <a:t>LİNUXS DOSYA KOPYALAMA KOMUTU </a:t>
            </a:r>
            <a:r>
              <a:rPr lang="tr-TR" sz="2400" dirty="0"/>
              <a:t/>
            </a:r>
            <a:br>
              <a:rPr lang="tr-TR" sz="2400" dirty="0"/>
            </a:br>
            <a:endParaRPr sz="2400" dirty="0"/>
          </a:p>
        </p:txBody>
      </p:sp>
      <p:pic>
        <p:nvPicPr>
          <p:cNvPr id="117" name="Google Shape;117;p4" descr="dosya3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4202089"/>
            <a:ext cx="9144000" cy="265591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>
            <a:spLocks noGrp="1"/>
          </p:cNvSpPr>
          <p:nvPr>
            <p:ph type="body" idx="2"/>
          </p:nvPr>
        </p:nvSpPr>
        <p:spPr>
          <a:xfrm>
            <a:off x="0" y="1500174"/>
            <a:ext cx="9144000" cy="264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 fontScale="77500" lnSpcReduction="20000"/>
          </a:bodyPr>
          <a:lstStyle/>
          <a:p>
            <a:pPr marL="0" lvl="0" indent="-122046" algn="l" rtl="0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❖"/>
            </a:pPr>
            <a:r>
              <a:rPr lang="tr-TR" sz="3100" b="1">
                <a:latin typeface="Arial"/>
                <a:ea typeface="Arial"/>
                <a:cs typeface="Arial"/>
                <a:sym typeface="Arial"/>
              </a:rPr>
              <a:t>Linux işletim sisteminde dosyaların kopyalanması için İngilizcede kopya anlamına gelen “copy” kelimesinin kısaltması $cp komutu kullanılır. Bu komuta iki adet parametre eşlik edebilir. </a:t>
            </a:r>
            <a:r>
              <a:rPr lang="tr-TR" sz="3100" b="1" i="1">
                <a:latin typeface="Arial"/>
                <a:ea typeface="Arial"/>
                <a:cs typeface="Arial"/>
                <a:sym typeface="Arial"/>
              </a:rPr>
              <a:t>Bu parametreler;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None/>
            </a:pPr>
            <a:endParaRPr sz="3100" b="1"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tr-TR" sz="3100" b="1">
                <a:latin typeface="Arial"/>
                <a:ea typeface="Arial"/>
                <a:cs typeface="Arial"/>
                <a:sym typeface="Arial"/>
              </a:rPr>
              <a:t>-i kopya işleminin onaylanmasını ister, hata riskini azaltır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79999"/>
              <a:buNone/>
            </a:pPr>
            <a:endParaRPr sz="3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tr-TR" sz="3100" b="1">
                <a:latin typeface="Arial"/>
                <a:ea typeface="Arial"/>
                <a:cs typeface="Arial"/>
                <a:sym typeface="Arial"/>
              </a:rPr>
              <a:t>-r bir dizin ve içerisindeki her şeyi hedef dizine kopyalar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80000"/>
              <a:buNone/>
            </a:pPr>
            <a:endParaRPr sz="2000" b="1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  <p:transition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2857488" y="0"/>
            <a:ext cx="6286512" cy="142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2000"/>
              <a:buFont typeface="EB Garamond"/>
              <a:buNone/>
            </a:pPr>
            <a:r>
              <a:rPr lang="tr-TR" sz="2800" b="1" dirty="0">
                <a:latin typeface="EB Garamond"/>
                <a:ea typeface="EB Garamond"/>
                <a:cs typeface="EB Garamond"/>
                <a:sym typeface="EB Garamond"/>
              </a:rPr>
              <a:t>LİNUXS DOSYA TAŞIMA KOMUTU </a:t>
            </a:r>
            <a:r>
              <a:rPr lang="tr-TR" sz="2800" dirty="0"/>
              <a:t/>
            </a:r>
            <a:br>
              <a:rPr lang="tr-TR" sz="2800" dirty="0"/>
            </a:br>
            <a:endParaRPr sz="2800" dirty="0"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2"/>
          </p:nvPr>
        </p:nvSpPr>
        <p:spPr>
          <a:xfrm>
            <a:off x="0" y="1500174"/>
            <a:ext cx="9144000" cy="264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0" lvl="0" indent="-132080" algn="l" rtl="0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lang="tr-TR" sz="2600" b="1">
                <a:latin typeface="Arial"/>
                <a:ea typeface="Arial"/>
                <a:cs typeface="Arial"/>
                <a:sym typeface="Arial"/>
              </a:rPr>
              <a:t>Dosyaların taşınması için ise İngilizcede taşıma anlamına gelen “move” kelimesinin kısaltması olan $mv komutu kullanılır. Bu yapılan işlem aslında kaynak dosyayı taşınan yerden silmek demektir. $mv komutu aynı zamanda dosyanın ismini değiştirmek içinde kullanılır</a:t>
            </a:r>
            <a:endParaRPr sz="26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5" descr="KaliLinux-DosyaSistemi-17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3571875"/>
            <a:ext cx="91440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2857488" y="0"/>
            <a:ext cx="6286512" cy="142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2000"/>
              <a:buFont typeface="EB Garamond"/>
              <a:buNone/>
            </a:pPr>
            <a:r>
              <a:rPr lang="tr-TR" sz="2800" b="1" dirty="0">
                <a:latin typeface="EB Garamond"/>
                <a:ea typeface="EB Garamond"/>
                <a:cs typeface="EB Garamond"/>
                <a:sym typeface="EB Garamond"/>
              </a:rPr>
              <a:t>LİNUXS DOSYA SİLME KOMUTU </a:t>
            </a:r>
            <a:r>
              <a:rPr lang="tr-TR" sz="2800" dirty="0"/>
              <a:t/>
            </a:r>
            <a:br>
              <a:rPr lang="tr-TR" sz="2800" dirty="0"/>
            </a:br>
            <a:endParaRPr sz="2800" dirty="0"/>
          </a:p>
        </p:txBody>
      </p:sp>
      <p:sp>
        <p:nvSpPr>
          <p:cNvPr id="131" name="Google Shape;131;p6"/>
          <p:cNvSpPr txBox="1">
            <a:spLocks noGrp="1"/>
          </p:cNvSpPr>
          <p:nvPr>
            <p:ph type="body" idx="2"/>
          </p:nvPr>
        </p:nvSpPr>
        <p:spPr>
          <a:xfrm>
            <a:off x="0" y="1500174"/>
            <a:ext cx="9144000" cy="264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tr-TR" sz="2400" b="1">
                <a:latin typeface="Arial"/>
                <a:ea typeface="Arial"/>
                <a:cs typeface="Arial"/>
                <a:sym typeface="Arial"/>
              </a:rPr>
              <a:t>Linux’da dosyaların silinmesi için “remove” kelimesinin kısaltması olan $rm komutu kullanılır. Bu komuta üç adet parametre eşlik edebilir. Bu parametreler;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tr-TR" sz="2400" b="1">
                <a:latin typeface="Arial"/>
                <a:ea typeface="Arial"/>
                <a:cs typeface="Arial"/>
                <a:sym typeface="Arial"/>
              </a:rPr>
              <a:t>-i kopya işleminin onaylanmasını ister, hata riskini azaltır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tr-TR" sz="2400" b="1">
                <a:latin typeface="Arial"/>
                <a:ea typeface="Arial"/>
                <a:cs typeface="Arial"/>
                <a:sym typeface="Arial"/>
              </a:rPr>
              <a:t>-r bir dizin ve içerisindeki her şeyi hedef dizine kopyalar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tr-TR" sz="2400" b="1">
                <a:latin typeface="Arial"/>
                <a:ea typeface="Arial"/>
                <a:cs typeface="Arial"/>
                <a:sym typeface="Arial"/>
              </a:rPr>
              <a:t>-f dosyaları onay almadan tek adımda koşulsuz siler.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6" descr="KaliLinux-DosyaSistemi-17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3857625"/>
            <a:ext cx="9143999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2857488" y="0"/>
            <a:ext cx="6286512" cy="142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2000"/>
              <a:buFont typeface="EB Garamond"/>
              <a:buNone/>
            </a:pPr>
            <a:r>
              <a:rPr lang="tr-TR" sz="3200" b="1" dirty="0" smtClean="0"/>
              <a:t>TERMİNAL KOMUTLARI</a:t>
            </a:r>
            <a:br>
              <a:rPr lang="tr-TR" sz="3200" b="1" dirty="0" smtClean="0"/>
            </a:br>
            <a:endParaRPr sz="3200" b="1" dirty="0"/>
          </a:p>
        </p:txBody>
      </p:sp>
      <p:sp>
        <p:nvSpPr>
          <p:cNvPr id="2" name="Metin Yer Tutucusu 1"/>
          <p:cNvSpPr>
            <a:spLocks noGrp="1"/>
          </p:cNvSpPr>
          <p:nvPr>
            <p:ph type="body" idx="1"/>
          </p:nvPr>
        </p:nvSpPr>
        <p:spPr>
          <a:xfrm>
            <a:off x="0" y="1428737"/>
            <a:ext cx="9143999" cy="5429264"/>
          </a:xfrm>
        </p:spPr>
        <p:txBody>
          <a:bodyPr>
            <a:normAutofit lnSpcReduction="10000"/>
          </a:bodyPr>
          <a:lstStyle/>
          <a:p>
            <a:pPr marL="66040" indent="0">
              <a:buNone/>
            </a:pPr>
            <a:r>
              <a:rPr lang="tr-TR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Ls</a:t>
            </a: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= Bulunduğu klasördeki dosyaları ve klasörü gösterir.</a:t>
            </a:r>
          </a:p>
          <a:p>
            <a:pPr marL="66040" indent="0">
              <a:buNone/>
            </a:pPr>
            <a:endParaRPr lang="tr-T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040" indent="0">
              <a:buNone/>
            </a:pPr>
            <a:r>
              <a:rPr lang="tr-TR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Cd</a:t>
            </a: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= Klasör değiştirmek klasörün içine girmek.</a:t>
            </a:r>
          </a:p>
          <a:p>
            <a:pPr marL="66040" indent="0">
              <a:buNone/>
            </a:pPr>
            <a:endParaRPr lang="tr-T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040" indent="0">
              <a:buNone/>
            </a:pPr>
            <a:r>
              <a:rPr lang="tr-TR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Grep</a:t>
            </a:r>
            <a:r>
              <a:rPr lang="tr-T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= Dosya </a:t>
            </a:r>
            <a:r>
              <a:rPr lang="tr-TR" sz="2800" b="1" dirty="0">
                <a:latin typeface="Arial" panose="020B0604020202020204" pitchFamily="34" charset="0"/>
                <a:cs typeface="Arial" panose="020B0604020202020204" pitchFamily="34" charset="0"/>
              </a:rPr>
              <a:t>içinde arama yapma </a:t>
            </a: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komutu.</a:t>
            </a:r>
          </a:p>
          <a:p>
            <a:pPr marL="66040" indent="0">
              <a:buNone/>
            </a:pPr>
            <a:endParaRPr lang="tr-T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040" indent="0">
              <a:buNone/>
            </a:pPr>
            <a:r>
              <a:rPr lang="tr-TR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Mkdir</a:t>
            </a: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= Yeni klasör oluşturma komutu.</a:t>
            </a:r>
          </a:p>
          <a:p>
            <a:pPr marL="66040" indent="0">
              <a:buNone/>
            </a:pPr>
            <a:endParaRPr lang="tr-T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040" indent="0">
              <a:buNone/>
            </a:pPr>
            <a:r>
              <a:rPr lang="tr-TR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Chmod</a:t>
            </a: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= Dosya/klasör </a:t>
            </a:r>
            <a:r>
              <a:rPr lang="tr-TR" sz="2800" b="1" dirty="0">
                <a:latin typeface="Arial" panose="020B0604020202020204" pitchFamily="34" charset="0"/>
                <a:cs typeface="Arial" panose="020B0604020202020204" pitchFamily="34" charset="0"/>
              </a:rPr>
              <a:t>izinlerini değiştirme </a:t>
            </a: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komutu.</a:t>
            </a:r>
          </a:p>
          <a:p>
            <a:pPr marL="66040" indent="0">
              <a:buNone/>
            </a:pPr>
            <a:endParaRPr lang="tr-T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040" indent="0">
              <a:buNone/>
            </a:pPr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Top= Bilgisayarda </a:t>
            </a:r>
            <a:r>
              <a:rPr lang="tr-TR" sz="2800" b="1" dirty="0">
                <a:latin typeface="Arial" panose="020B0604020202020204" pitchFamily="34" charset="0"/>
                <a:cs typeface="Arial" panose="020B0604020202020204" pitchFamily="34" charset="0"/>
              </a:rPr>
              <a:t>çalışan işlemleri (</a:t>
            </a:r>
            <a:r>
              <a:rPr lang="tr-T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tr-TR" sz="2800" b="1" dirty="0">
                <a:latin typeface="Arial" panose="020B0604020202020204" pitchFamily="34" charset="0"/>
                <a:cs typeface="Arial" panose="020B0604020202020204" pitchFamily="34" charset="0"/>
              </a:rPr>
              <a:t>) canlı olarak gösteren komut</a:t>
            </a:r>
          </a:p>
        </p:txBody>
      </p:sp>
    </p:spTree>
    <p:extLst>
      <p:ext uri="{BB962C8B-B14F-4D97-AF65-F5344CB8AC3E}">
        <p14:creationId xmlns:p14="http://schemas.microsoft.com/office/powerpoint/2010/main" val="1578239638"/>
      </p:ext>
    </p:extLst>
  </p:cSld>
  <p:clrMapOvr>
    <a:masterClrMapping/>
  </p:clrMapOvr>
  <p:transition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7ED8"/>
              </a:buClr>
              <a:buSzPts val="4500"/>
              <a:buFont typeface="Corbel"/>
              <a:buNone/>
            </a:pPr>
            <a:r>
              <a:rPr lang="tr-TR"/>
              <a:t>ÖZET</a:t>
            </a:r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lvl="0" indent="-320040" algn="l" rtl="0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tr-TR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Linuxs</a:t>
            </a:r>
            <a:r>
              <a:rPr lang="tr-TR" sz="3000" b="1" dirty="0">
                <a:latin typeface="Arial" panose="020B0604020202020204" pitchFamily="34" charset="0"/>
                <a:cs typeface="Arial" panose="020B0604020202020204" pitchFamily="34" charset="0"/>
              </a:rPr>
              <a:t> güvenilir açık kaynak kodlu işletim </a:t>
            </a:r>
            <a:r>
              <a:rPr lang="tr-TR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sisetemidir</a:t>
            </a:r>
            <a:r>
              <a:rPr lang="tr-TR" sz="3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8912" lvl="0" indent="-320040" algn="l" rtl="0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tr-TR" sz="3000" b="1" dirty="0">
                <a:latin typeface="Arial" panose="020B0604020202020204" pitchFamily="34" charset="0"/>
                <a:cs typeface="Arial" panose="020B0604020202020204" pitchFamily="34" charset="0"/>
              </a:rPr>
              <a:t>Dosya belgelerin tutulduğu yerdir.</a:t>
            </a:r>
            <a:endParaRPr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8912" lvl="0" indent="-320040" algn="l" rtl="0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tr-TR" sz="3000" b="1" dirty="0">
                <a:latin typeface="Arial" panose="020B0604020202020204" pitchFamily="34" charset="0"/>
                <a:cs typeface="Arial" panose="020B0604020202020204" pitchFamily="34" charset="0"/>
              </a:rPr>
              <a:t>Dizin benzer dosyaları aynı dizin içine yükleme.</a:t>
            </a:r>
            <a:endParaRPr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8912" lvl="0" indent="-320040" algn="l" rtl="0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Kopyalama komutu kısaltması $</a:t>
            </a:r>
            <a:r>
              <a:rPr lang="tr-TR" sz="3000" b="1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cp</a:t>
            </a: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 ’ </a:t>
            </a:r>
            <a:r>
              <a:rPr lang="tr-TR" sz="3000" b="1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dir</a:t>
            </a: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  <a:endParaRPr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8912" lvl="0" indent="-320040" algn="l" rtl="0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Taşıma komutu kısaltması $mv ’ </a:t>
            </a:r>
            <a:r>
              <a:rPr lang="tr-TR" sz="3000" b="1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dir</a:t>
            </a: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  <a:endParaRPr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8912" lvl="0" indent="-320040" algn="l" rtl="0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Silme komutu kısaltması $</a:t>
            </a:r>
            <a:r>
              <a:rPr lang="tr-TR" sz="3000" b="1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rm</a:t>
            </a: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’ </a:t>
            </a:r>
            <a:r>
              <a:rPr lang="tr-TR" sz="3000" b="1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dir</a:t>
            </a:r>
            <a:r>
              <a:rPr lang="tr-TR" sz="3000" b="1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  <a:endParaRPr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plit orient="vert"/>
  </p:transition>
</p:sld>
</file>

<file path=ppt/theme/theme1.xml><?xml version="1.0" encoding="utf-8"?>
<a:theme xmlns:a="http://schemas.openxmlformats.org/drawingml/2006/main" name="Modül">
  <a:themeElements>
    <a:clrScheme name="Ofi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185</Words>
  <Application>Microsoft Office PowerPoint</Application>
  <PresentationFormat>Ekran Gösterisi (4:3)</PresentationFormat>
  <Paragraphs>44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EB Garamond</vt:lpstr>
      <vt:lpstr>Corbel</vt:lpstr>
      <vt:lpstr>Noto Sans Symbols</vt:lpstr>
      <vt:lpstr>Modül</vt:lpstr>
      <vt:lpstr>Linux nedir ve temel komutları</vt:lpstr>
      <vt:lpstr>LİNUXS NEDİR </vt:lpstr>
      <vt:lpstr>DOSYA VE DİZİN NEDİR? </vt:lpstr>
      <vt:lpstr>LİNUXS DOSYA KOPYALAMA KOMUTU  </vt:lpstr>
      <vt:lpstr>LİNUXS DOSYA TAŞIMA KOMUTU  </vt:lpstr>
      <vt:lpstr>LİNUXS DOSYA SİLME KOMUTU  </vt:lpstr>
      <vt:lpstr>TERMİNAL KOMUTLARI </vt:lpstr>
      <vt:lpstr>ÖZET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nedir ve temel komutları</dc:title>
  <dc:creator>değişiklikler</dc:creator>
  <cp:lastModifiedBy>DELL</cp:lastModifiedBy>
  <cp:revision>3</cp:revision>
  <dcterms:created xsi:type="dcterms:W3CDTF">2022-11-28T12:44:38Z</dcterms:created>
  <dcterms:modified xsi:type="dcterms:W3CDTF">2026-03-31T10:55:21Z</dcterms:modified>
</cp:coreProperties>
</file>